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868680"/>
            <a:ext cx="7315200" cy="0"/>
          </a:xfrm>
          <a:prstGeom prst="line">
            <a:avLst/>
          </a:prstGeom>
          <a:noFill/>
          <a:ln w="1905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143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891B2"/>
                </a:solidFill>
              </a:rPr>
              <a:t>CHAPTER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600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Sensor Design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4A3B8"/>
                </a:solidFill>
              </a:rPr>
              <a:t>Fundamentals, Design Techniques, and Case Studies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400" y="3749040"/>
            <a:ext cx="7315200" cy="566928"/>
          </a:xfrm>
          <a:prstGeom prst="roundRect">
            <a:avLst>
              <a:gd name="adj" fmla="val 9677"/>
            </a:avLst>
          </a:prstGeom>
          <a:solidFill>
            <a:srgbClr val="17233A"/>
          </a:solidFill>
          <a:ln w="1524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3822192"/>
            <a:ext cx="7059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BD5E1"/>
                </a:solidFill>
              </a:rPr>
              <a:t>EEE703708 · Smart Sensor Systems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80060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Based on: Meijer, Pertijs &amp; Makinwa — Smart Sensor Systems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411480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1A2D47"/>
          </a:solidFill>
          <a:ln w="12700">
            <a:solidFill>
              <a:srgbClr val="1A2D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411480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</a:rPr>
              <a:t>1 / 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14400" y="8686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Sensors Are Everywhere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914400" y="1572768"/>
            <a:ext cx="7315200" cy="0"/>
          </a:xfrm>
          <a:prstGeom prst="line">
            <a:avLst/>
          </a:prstGeom>
          <a:noFill/>
          <a:ln w="12700">
            <a:solidFill>
              <a:srgbClr val="1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874520"/>
            <a:ext cx="2286000" cy="2331720"/>
          </a:xfrm>
          <a:prstGeom prst="roundRect">
            <a:avLst>
              <a:gd name="adj" fmla="val 32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199339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🚗 Cars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0704" y="2377440"/>
            <a:ext cx="1993392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Position sensors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MEMS accelerometers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Gyroscopes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Tire pressure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Proximity / parking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29000" y="1874520"/>
            <a:ext cx="2286000" cy="2331720"/>
          </a:xfrm>
          <a:prstGeom prst="roundRect">
            <a:avLst>
              <a:gd name="adj" fmla="val 32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75304" y="199339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🏠 Homes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75304" y="2377440"/>
            <a:ext cx="1993392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Thermostats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Motion sensing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Gas / smoke flow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Door/window contacts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Water leak detection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0" y="1874520"/>
            <a:ext cx="2286000" cy="2331720"/>
          </a:xfrm>
          <a:prstGeom prst="roundRect">
            <a:avLst>
              <a:gd name="adj" fmla="val 32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9904" y="199339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📱 Mobile Phones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89904" y="2377440"/>
            <a:ext cx="1993392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Touch + image sensors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MEMS microphones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Inertial sensing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E-compass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GPS + environment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4828032"/>
            <a:ext cx="7315200" cy="2194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4846320"/>
            <a:ext cx="7168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Sensors transformed everyday devices — cars, homes, phones.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411480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1A2D47"/>
          </a:solidFill>
          <a:ln w="12700">
            <a:solidFill>
              <a:srgbClr val="1A2D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411480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</a:rPr>
              <a:t>2 / 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14400" y="8686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Silicon?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914400" y="1572768"/>
            <a:ext cx="7315200" cy="0"/>
          </a:xfrm>
          <a:prstGeom prst="line">
            <a:avLst/>
          </a:prstGeom>
          <a:noFill/>
          <a:ln w="12700">
            <a:solidFill>
              <a:srgbClr val="1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8745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19933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Low Cost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0704" y="2377440"/>
            <a:ext cx="3227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Mass-producible by mature semiconductor industry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8745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9744" y="19933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Integration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09744" y="2377440"/>
            <a:ext cx="3227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Sensor + interface circuitry in one substrate/package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32461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33649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Material Control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60704" y="3749040"/>
            <a:ext cx="3227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High-purity, tunable physical properties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32461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9744" y="33649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Trade-off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09744" y="3749040"/>
            <a:ext cx="3227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Not always best raw performance; wins on cost + size + system integration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4828032"/>
            <a:ext cx="7315200" cy="2194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4846320"/>
            <a:ext cx="7168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Silicon's value proposition: cost + size + integration.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411480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1A2D47"/>
          </a:solidFill>
          <a:ln w="12700">
            <a:solidFill>
              <a:srgbClr val="1A2D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411480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</a:rPr>
              <a:t>3 / 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14400" y="8686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Silicon Transduction Mechanisms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1572768"/>
            <a:ext cx="7315200" cy="0"/>
          </a:xfrm>
          <a:prstGeom prst="line">
            <a:avLst/>
          </a:prstGeom>
          <a:noFill/>
          <a:ln w="12700">
            <a:solidFill>
              <a:srgbClr val="1A3A5C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874520"/>
          <a:ext cx="7315200" cy="2468880"/>
        </p:xfrm>
        <a:graphic>
          <a:graphicData uri="http://schemas.openxmlformats.org/drawingml/2006/table">
            <a:tbl>
              <a:tblPr/>
              <a:tblGrid>
                <a:gridCol w="2103120"/>
                <a:gridCol w="1828800"/>
                <a:gridCol w="33832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MEASURAND</a:t>
                      </a:r>
                      <a:endParaRPr lang="en-US" sz="1150" dirty="0"/>
                    </a:p>
                  </a:txBody>
                  <a:tcPr marL="63500" marR="63500" marT="63500" marB="63500" anchor="mid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EFFECT</a:t>
                      </a:r>
                      <a:endParaRPr lang="en-US" sz="1150" dirty="0"/>
                    </a:p>
                  </a:txBody>
                  <a:tcPr marL="63500" marR="63500" marT="63500" marB="63500" anchor="mid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PRINCIPLE</a:t>
                      </a:r>
                      <a:endParaRPr lang="en-US" sz="1150" dirty="0"/>
                    </a:p>
                  </a:txBody>
                  <a:tcPr marL="63500" marR="63500" marT="63500" marB="63500" anchor="mid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Magnetic field</a:t>
                      </a:r>
                      <a:endParaRPr lang="en-US" sz="1150" dirty="0"/>
                    </a:p>
                  </a:txBody>
                  <a:tcPr marL="63500" marR="63500" marT="63500" marB="63500" anchor="mid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Hall effect</a:t>
                      </a:r>
                      <a:endParaRPr lang="en-US" sz="1150" dirty="0"/>
                    </a:p>
                  </a:txBody>
                  <a:tcPr marL="63500" marR="63500" marT="63500" marB="63500" anchor="mid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Transverse voltage in current-carrying plate</a:t>
                      </a:r>
                      <a:endParaRPr lang="en-US" sz="1150" dirty="0"/>
                    </a:p>
                  </a:txBody>
                  <a:tcPr marL="63500" marR="63500" marT="63500" marB="63500" anchor="mid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Temperature difference</a:t>
                      </a:r>
                      <a:endParaRPr lang="en-US" sz="1150" dirty="0"/>
                    </a:p>
                  </a:txBody>
                  <a:tcPr marL="63500" marR="63500" marT="63500" marB="63500" anchor="mid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Seebeck effect</a:t>
                      </a:r>
                      <a:endParaRPr lang="en-US" sz="1150" dirty="0"/>
                    </a:p>
                  </a:txBody>
                  <a:tcPr marL="63500" marR="63500" marT="63500" marB="63500" anchor="mid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Thermopile junction voltage</a:t>
                      </a:r>
                      <a:endParaRPr lang="en-US" sz="1150" dirty="0"/>
                    </a:p>
                  </a:txBody>
                  <a:tcPr marL="63500" marR="63500" marT="63500" marB="63500" anchor="mid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Mechanical strain</a:t>
                      </a:r>
                      <a:endParaRPr lang="en-US" sz="1150" dirty="0"/>
                    </a:p>
                  </a:txBody>
                  <a:tcPr marL="63500" marR="63500" marT="63500" marB="63500" anchor="mid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Piezoresistive</a:t>
                      </a:r>
                      <a:endParaRPr lang="en-US" sz="1150" dirty="0"/>
                    </a:p>
                  </a:txBody>
                  <a:tcPr marL="63500" marR="63500" marT="63500" marB="63500" anchor="mid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Resistance change under stress</a:t>
                      </a:r>
                      <a:endParaRPr lang="en-US" sz="1150" dirty="0"/>
                    </a:p>
                  </a:txBody>
                  <a:tcPr marL="63500" marR="63500" marT="63500" marB="63500" anchor="mid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Light</a:t>
                      </a:r>
                      <a:endParaRPr lang="en-US" sz="1150" dirty="0"/>
                    </a:p>
                  </a:txBody>
                  <a:tcPr marL="63500" marR="63500" marT="63500" marB="63500" anchor="mid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Photoelectric</a:t>
                      </a:r>
                      <a:endParaRPr lang="en-US" sz="1150" dirty="0"/>
                    </a:p>
                  </a:txBody>
                  <a:tcPr marL="63500" marR="63500" marT="63500" marB="63500" anchor="mid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Photodiode / phototransistor array</a:t>
                      </a:r>
                      <a:endParaRPr lang="en-US" sz="1150" dirty="0"/>
                    </a:p>
                  </a:txBody>
                  <a:tcPr marL="63500" marR="63500" marT="63500" marB="63500" anchor="mid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Humidity / gas</a:t>
                      </a:r>
                      <a:endParaRPr lang="en-US" sz="1150" dirty="0"/>
                    </a:p>
                  </a:txBody>
                  <a:tcPr marL="63500" marR="63500" marT="63500" marB="63500" anchor="mid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Indirect</a:t>
                      </a:r>
                      <a:endParaRPr lang="en-US" sz="1150" dirty="0"/>
                    </a:p>
                  </a:txBody>
                  <a:tcPr marL="63500" marR="63500" marT="63500" marB="63500" anchor="mid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Polymer dielectric / metal-oxide resistance</a:t>
                      </a:r>
                      <a:endParaRPr lang="en-US" sz="1150" dirty="0"/>
                    </a:p>
                  </a:txBody>
                  <a:tcPr marL="63500" marR="63500" marT="63500" marB="63500" anchor="mid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7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914400" y="4828032"/>
            <a:ext cx="7315200" cy="2194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87552" y="4846320"/>
            <a:ext cx="7168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Many sensors convert physical effects into tiny electrical signals.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411480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1A2D47"/>
          </a:solidFill>
          <a:ln w="12700">
            <a:solidFill>
              <a:srgbClr val="1A2D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411480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</a:rPr>
              <a:t>4 / 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14400" y="8686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 Smart Sensor?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914400" y="1572768"/>
            <a:ext cx="7315200" cy="0"/>
          </a:xfrm>
          <a:prstGeom prst="line">
            <a:avLst/>
          </a:prstGeom>
          <a:noFill/>
          <a:ln w="12700">
            <a:solidFill>
              <a:srgbClr val="1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8745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19933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Definition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0704" y="2377440"/>
            <a:ext cx="3227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System-in-package combining a sensor with dedicated interface electronics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8745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9744" y="19933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Close Coupling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09744" y="2377440"/>
            <a:ext cx="3227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Electronics near sensor reduce interference and transmission losses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32461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33649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Examples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60704" y="3749040"/>
            <a:ext cx="3227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Single-chip: temperature, image, Hall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Two-chip: MEMS accel, gyro, mic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32461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9744" y="33649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Added Functions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09744" y="3749040"/>
            <a:ext cx="3227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Signal conditioning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Standardized output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Self-test + self-calibration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Sensor fusion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4828032"/>
            <a:ext cx="7315200" cy="2194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4846320"/>
            <a:ext cx="7168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Smart sensor = sensing element + nearby intelligence.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411480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1A2D47"/>
          </a:solidFill>
          <a:ln w="12700">
            <a:solidFill>
              <a:srgbClr val="1A2D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411480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</a:rPr>
              <a:t>5 / 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14400" y="8686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Sensor Design = System Design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914400" y="1572768"/>
            <a:ext cx="7315200" cy="0"/>
          </a:xfrm>
          <a:prstGeom prst="line">
            <a:avLst/>
          </a:prstGeom>
          <a:noFill/>
          <a:ln w="12700">
            <a:solidFill>
              <a:srgbClr val="1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8745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19933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Optimize Operation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0704" y="2377440"/>
            <a:ext cx="3227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Run the sensing element in its best physical/electrical mode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8745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9744" y="19933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Compensate Errors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09744" y="2377440"/>
            <a:ext cx="3227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Correct cross-sensitivity, temperature effects, package stress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32461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33649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Use Feedback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60704" y="3749040"/>
            <a:ext cx="3227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Improve linearity, bandwidth, dynamic range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32461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9744" y="33649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Package Correctly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09744" y="3749040"/>
            <a:ext cx="3227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Expose sensor to measurand while protecting the device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4828032"/>
            <a:ext cx="7315200" cy="2194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4846320"/>
            <a:ext cx="7168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Performance comes from optimizing sensor + electronics + packaging together.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411480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1A2D47"/>
          </a:solidFill>
          <a:ln w="12700">
            <a:solidFill>
              <a:srgbClr val="1A2D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411480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</a:rPr>
              <a:t>6 / 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14400" y="8686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Interface Electronics: The Challenge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914400" y="1572768"/>
            <a:ext cx="7315200" cy="0"/>
          </a:xfrm>
          <a:prstGeom prst="line">
            <a:avLst/>
          </a:prstGeom>
          <a:noFill/>
          <a:ln w="12700">
            <a:solidFill>
              <a:srgbClr val="1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874520"/>
            <a:ext cx="2286000" cy="2331720"/>
          </a:xfrm>
          <a:prstGeom prst="roundRect">
            <a:avLst>
              <a:gd name="adj" fmla="val 32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199339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Weak Signals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0704" y="2377440"/>
            <a:ext cx="1993392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Thermopiles, Hall plates, strain gauges often produce microvolt-level outputs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29000" y="1874520"/>
            <a:ext cx="2286000" cy="2331720"/>
          </a:xfrm>
          <a:prstGeom prst="roundRect">
            <a:avLst>
              <a:gd name="adj" fmla="val 32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75304" y="199339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Transparent Interface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75304" y="2377440"/>
            <a:ext cx="1993392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Circuit noise, offset, drift must not dominate sensor performance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0" y="1874520"/>
            <a:ext cx="2286000" cy="2331720"/>
          </a:xfrm>
          <a:prstGeom prst="roundRect">
            <a:avLst>
              <a:gd name="adj" fmla="val 32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9904" y="199339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Early Digitization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89904" y="2377440"/>
            <a:ext cx="1993392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Convert to digital early, then filter / linearize / compensate in DSP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4828032"/>
            <a:ext cx="7315200" cy="2194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4846320"/>
            <a:ext cx="7168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The interface must reveal the sensor — not become the sensor limit.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411480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1A2D47"/>
          </a:solidFill>
          <a:ln w="12700">
            <a:solidFill>
              <a:srgbClr val="1A2D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411480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</a:rPr>
              <a:t>2 / 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14400" y="8686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DC Signal Problem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914400" y="1572768"/>
            <a:ext cx="7315200" cy="0"/>
          </a:xfrm>
          <a:prstGeom prst="line">
            <a:avLst/>
          </a:prstGeom>
          <a:noFill/>
          <a:ln w="12700">
            <a:solidFill>
              <a:srgbClr val="1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8745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19933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Sensor Reality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0704" y="2377440"/>
            <a:ext cx="3227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Many measurands include DC or low-frequency components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8745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9744" y="19933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CMOS Limits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09744" y="2377440"/>
            <a:ext cx="3227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Drift, 1/f noise, mismatch, charge injection, leakage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32461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33649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Precision Strategy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60704" y="3749040"/>
            <a:ext cx="3227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Dynamic error correction trades speed/bandwidth for accuracy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32461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9744" y="33649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Two Families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09744" y="3749040"/>
            <a:ext cx="3227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Sample-and-correct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Modulate-and-filter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4828032"/>
            <a:ext cx="7315200" cy="2194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4846320"/>
            <a:ext cx="7168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Low-frequency precision is hard; dynamic techniques make it practical.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411480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1A2D47"/>
          </a:solidFill>
          <a:ln w="12700">
            <a:solidFill>
              <a:srgbClr val="1A2D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411480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</a:rPr>
              <a:t>2 / 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14400" y="8686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Auto-Zeroing: Sample-and-Correct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914400" y="1572768"/>
            <a:ext cx="7315200" cy="0"/>
          </a:xfrm>
          <a:prstGeom prst="line">
            <a:avLst/>
          </a:prstGeom>
          <a:noFill/>
          <a:ln w="12700">
            <a:solidFill>
              <a:srgbClr val="1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240280"/>
            <a:ext cx="1508760" cy="1097280"/>
          </a:xfrm>
          <a:prstGeom prst="roundRect">
            <a:avLst>
              <a:gd name="adj" fmla="val 6667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2359152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1. Sample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0704" y="2743200"/>
            <a:ext cx="1216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Short input; measure offset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468880" y="258775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679192" y="2240280"/>
            <a:ext cx="1508760" cy="1097280"/>
          </a:xfrm>
          <a:prstGeom prst="roundRect">
            <a:avLst>
              <a:gd name="adj" fmla="val 6667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25496" y="2359152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2. Store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825496" y="2743200"/>
            <a:ext cx="1216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Offset-canceling integrator stores correction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233672" y="258775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443984" y="2240280"/>
            <a:ext cx="1508760" cy="1097280"/>
          </a:xfrm>
          <a:prstGeom prst="roundRect">
            <a:avLst>
              <a:gd name="adj" fmla="val 6667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0288" y="2359152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3. Amplify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90288" y="2743200"/>
            <a:ext cx="1216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Apply correction during normal sensing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98464" y="258775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08776" y="2240280"/>
            <a:ext cx="1508760" cy="1097280"/>
          </a:xfrm>
          <a:prstGeom prst="roundRect">
            <a:avLst>
              <a:gd name="adj" fmla="val 6667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2359152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4. Ping-Pong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55080" y="2743200"/>
            <a:ext cx="1216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Two amps alternate to avoid downtime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14400" y="4828032"/>
            <a:ext cx="7315200" cy="2194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552" y="4846320"/>
            <a:ext cx="7168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Auto-zeroing cancels offset + 1/f noise, but reduces availability unless ping-ponged.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411480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1A2D47"/>
          </a:solidFill>
          <a:ln w="12700">
            <a:solidFill>
              <a:srgbClr val="1A2D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411480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</a:rPr>
              <a:t>2 / 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14400" y="8686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Chopping: Modulate-and-Filter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914400" y="1572768"/>
            <a:ext cx="7315200" cy="0"/>
          </a:xfrm>
          <a:prstGeom prst="line">
            <a:avLst/>
          </a:prstGeom>
          <a:noFill/>
          <a:ln w="12700">
            <a:solidFill>
              <a:srgbClr val="1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240280"/>
            <a:ext cx="1508760" cy="1097280"/>
          </a:xfrm>
          <a:prstGeom prst="roundRect">
            <a:avLst>
              <a:gd name="adj" fmla="val 6667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2359152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1. Modulate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0704" y="2743200"/>
            <a:ext cx="1216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Move sensor signal to chopping frequency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468880" y="258775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679192" y="2240280"/>
            <a:ext cx="1508760" cy="1097280"/>
          </a:xfrm>
          <a:prstGeom prst="roundRect">
            <a:avLst>
              <a:gd name="adj" fmla="val 6667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25496" y="2359152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2. Amplify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825496" y="2743200"/>
            <a:ext cx="1216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Offset + 1/f noise stay near DC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233672" y="258775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443984" y="2240280"/>
            <a:ext cx="1508760" cy="1097280"/>
          </a:xfrm>
          <a:prstGeom prst="roundRect">
            <a:avLst>
              <a:gd name="adj" fmla="val 6667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0288" y="2359152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3. Demodulate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90288" y="2743200"/>
            <a:ext cx="1216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Signal returns to baseband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98464" y="258775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08776" y="2240280"/>
            <a:ext cx="1508760" cy="1097280"/>
          </a:xfrm>
          <a:prstGeom prst="roundRect">
            <a:avLst>
              <a:gd name="adj" fmla="val 6667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2359152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4. Filter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55080" y="2743200"/>
            <a:ext cx="1216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Remove shifted error terms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14400" y="4828032"/>
            <a:ext cx="7315200" cy="2194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552" y="4846320"/>
            <a:ext cx="7168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Chopping achieves excellent low-frequency precision; filter limits bandwidth.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411480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1A2D47"/>
          </a:solidFill>
          <a:ln w="12700">
            <a:solidFill>
              <a:srgbClr val="1A2D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411480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</a:rPr>
              <a:t>2 / 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14400" y="8686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Sigma-Delta Modulation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914400" y="1572768"/>
            <a:ext cx="7315200" cy="0"/>
          </a:xfrm>
          <a:prstGeom prst="line">
            <a:avLst/>
          </a:prstGeom>
          <a:noFill/>
          <a:ln w="12700">
            <a:solidFill>
              <a:srgbClr val="1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240280"/>
            <a:ext cx="1508760" cy="1097280"/>
          </a:xfrm>
          <a:prstGeom prst="roundRect">
            <a:avLst>
              <a:gd name="adj" fmla="val 6667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2359152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Input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0704" y="2743200"/>
            <a:ext cx="1216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Low-bandwidth analog sensor signal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468880" y="258775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679192" y="2240280"/>
            <a:ext cx="1508760" cy="1097280"/>
          </a:xfrm>
          <a:prstGeom prst="roundRect">
            <a:avLst>
              <a:gd name="adj" fmla="val 6667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25496" y="2359152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Loop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825496" y="2743200"/>
            <a:ext cx="1216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Filter + ADC + DAC feedback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233672" y="258775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443984" y="2240280"/>
            <a:ext cx="1508760" cy="1097280"/>
          </a:xfrm>
          <a:prstGeom prst="roundRect">
            <a:avLst>
              <a:gd name="adj" fmla="val 6667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0288" y="2359152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Noise Shape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90288" y="2743200"/>
            <a:ext cx="1216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Quantization noise pushed out-of-band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98464" y="258775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08776" y="2240280"/>
            <a:ext cx="1508760" cy="1097280"/>
          </a:xfrm>
          <a:prstGeom prst="roundRect">
            <a:avLst>
              <a:gd name="adj" fmla="val 6667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2359152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Digital LPF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55080" y="2743200"/>
            <a:ext cx="1216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Remove out-of-band noise → high resolution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828800" y="3886200"/>
            <a:ext cx="5486400" cy="502920"/>
          </a:xfrm>
          <a:prstGeom prst="roundRect">
            <a:avLst>
              <a:gd name="adj" fmla="val 10909"/>
            </a:avLst>
          </a:prstGeom>
          <a:solidFill>
            <a:srgbClr val="17233A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56816" y="3959352"/>
            <a:ext cx="52303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BD5E1"/>
                </a:solidFill>
              </a:rPr>
              <a:t>Can reach 20+ bit resolution in narrow bandwidths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411480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1A2D47"/>
          </a:solidFill>
          <a:ln w="12700">
            <a:solidFill>
              <a:srgbClr val="1A2D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411480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</a:rPr>
              <a:t>2 / 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14400" y="8686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Dynamic Element Matching (DEM)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914400" y="1572768"/>
            <a:ext cx="7315200" cy="0"/>
          </a:xfrm>
          <a:prstGeom prst="line">
            <a:avLst/>
          </a:prstGeom>
          <a:noFill/>
          <a:ln w="12700">
            <a:solidFill>
              <a:srgbClr val="1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8745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19933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Problem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0704" y="2377440"/>
            <a:ext cx="3227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Component mismatch corrupts current/voltage ratios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8745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9744" y="19933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Method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09744" y="2377440"/>
            <a:ext cx="3227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Rotate nominally equal elements through switch network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32461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33649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Effect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60704" y="3749040"/>
            <a:ext cx="3227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Mismatch becomes dynamic error, then averages out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32461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9744" y="33649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Filter Synergy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09744" y="3749040"/>
            <a:ext cx="3227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Same digital filter suppresses DEM ripple + quantization noise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4828032"/>
            <a:ext cx="7315200" cy="2194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4846320"/>
            <a:ext cx="7168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DEM converts static mismatch into average-cancelled error.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411480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1A2D47"/>
          </a:solidFill>
          <a:ln w="12700">
            <a:solidFill>
              <a:srgbClr val="1A2D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411480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</a:rPr>
              <a:t>2 / 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14400" y="8686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Precision Techniques in Smart Sensors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1572768"/>
            <a:ext cx="7315200" cy="0"/>
          </a:xfrm>
          <a:prstGeom prst="line">
            <a:avLst/>
          </a:prstGeom>
          <a:noFill/>
          <a:ln w="12700">
            <a:solidFill>
              <a:srgbClr val="1A3A5C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874520"/>
          <a:ext cx="7315200" cy="2468880"/>
        </p:xfrm>
        <a:graphic>
          <a:graphicData uri="http://schemas.openxmlformats.org/drawingml/2006/table">
            <a:tbl>
              <a:tblPr/>
              <a:tblGrid>
                <a:gridCol w="2103120"/>
                <a:gridCol w="1828800"/>
                <a:gridCol w="33832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TECHNIQUE</a:t>
                      </a:r>
                      <a:endParaRPr lang="en-US" sz="1150" dirty="0"/>
                    </a:p>
                  </a:txBody>
                  <a:tcPr marL="63500" marR="63500" marT="63500" marB="63500" anchor="mid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FIXES</a:t>
                      </a:r>
                      <a:endParaRPr lang="en-US" sz="1150" dirty="0"/>
                    </a:p>
                  </a:txBody>
                  <a:tcPr marL="63500" marR="63500" marT="63500" marB="63500" anchor="mid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TYPICAL RESULT</a:t>
                      </a:r>
                      <a:endParaRPr lang="en-US" sz="1150" dirty="0"/>
                    </a:p>
                  </a:txBody>
                  <a:tcPr marL="63500" marR="63500" marT="63500" marB="63500" anchor="mid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Auto-zeroing</a:t>
                      </a:r>
                      <a:endParaRPr lang="en-US" sz="1150" dirty="0"/>
                    </a:p>
                  </a:txBody>
                  <a:tcPr marL="63500" marR="63500" marT="63500" marB="63500" anchor="mid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Offset, drift</a:t>
                      </a:r>
                      <a:endParaRPr lang="en-US" sz="1150" dirty="0"/>
                    </a:p>
                  </a:txBody>
                  <a:tcPr marL="63500" marR="63500" marT="63500" marB="63500" anchor="mid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µV-level offset</a:t>
                      </a:r>
                      <a:endParaRPr lang="en-US" sz="1150" dirty="0"/>
                    </a:p>
                  </a:txBody>
                  <a:tcPr marL="63500" marR="63500" marT="63500" marB="63500" anchor="mid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Chopping</a:t>
                      </a:r>
                      <a:endParaRPr lang="en-US" sz="1150" dirty="0"/>
                    </a:p>
                  </a:txBody>
                  <a:tcPr marL="63500" marR="63500" marT="63500" marB="63500" anchor="mid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Offset, 1/f noise</a:t>
                      </a:r>
                      <a:endParaRPr lang="en-US" sz="1150" dirty="0"/>
                    </a:p>
                  </a:txBody>
                  <a:tcPr marL="63500" marR="63500" marT="63500" marB="63500" anchor="mid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nV-level offset</a:t>
                      </a:r>
                      <a:endParaRPr lang="en-US" sz="1150" dirty="0"/>
                    </a:p>
                  </a:txBody>
                  <a:tcPr marL="63500" marR="63500" marT="63500" marB="63500" anchor="mid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Sigma-Delta ADC</a:t>
                      </a:r>
                      <a:endParaRPr lang="en-US" sz="1150" dirty="0"/>
                    </a:p>
                  </a:txBody>
                  <a:tcPr marL="63500" marR="63500" marT="63500" marB="63500" anchor="mid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Quantization noise</a:t>
                      </a:r>
                      <a:endParaRPr lang="en-US" sz="1150" dirty="0"/>
                    </a:p>
                  </a:txBody>
                  <a:tcPr marL="63500" marR="63500" marT="63500" marB="63500" anchor="mid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20–22 bit resolution</a:t>
                      </a:r>
                      <a:endParaRPr lang="en-US" sz="1150" dirty="0"/>
                    </a:p>
                  </a:txBody>
                  <a:tcPr marL="63500" marR="63500" marT="63500" marB="63500" anchor="mid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DEM</a:t>
                      </a:r>
                      <a:endParaRPr lang="en-US" sz="1150" dirty="0"/>
                    </a:p>
                  </a:txBody>
                  <a:tcPr marL="63500" marR="63500" marT="63500" marB="63500" anchor="mid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Component mismatch</a:t>
                      </a:r>
                      <a:endParaRPr lang="en-US" sz="1150" dirty="0"/>
                    </a:p>
                  </a:txBody>
                  <a:tcPr marL="63500" marR="63500" marT="63500" marB="63500" anchor="mid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~100 ppm ratio accuracy</a:t>
                      </a:r>
                      <a:endParaRPr lang="en-US" sz="1150" dirty="0"/>
                    </a:p>
                  </a:txBody>
                  <a:tcPr marL="63500" marR="63500" marT="63500" marB="63500" anchor="mid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Correlated double sampling</a:t>
                      </a:r>
                      <a:endParaRPr lang="en-US" sz="1150" dirty="0"/>
                    </a:p>
                  </a:txBody>
                  <a:tcPr marL="63500" marR="63500" marT="63500" marB="63500" anchor="mid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Residual offset</a:t>
                      </a:r>
                      <a:endParaRPr lang="en-US" sz="1150" dirty="0"/>
                    </a:p>
                  </a:txBody>
                  <a:tcPr marL="63500" marR="63500" marT="63500" marB="63500" anchor="mid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Sub-µV performance</a:t>
                      </a:r>
                      <a:endParaRPr lang="en-US" sz="1150" dirty="0"/>
                    </a:p>
                  </a:txBody>
                  <a:tcPr marL="63500" marR="63500" marT="63500" marB="63500" anchor="mid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7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914400" y="4828032"/>
            <a:ext cx="7315200" cy="2194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87552" y="4846320"/>
            <a:ext cx="7168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Precision is assembled from complementary correction techniques.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411480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1A2D47"/>
          </a:solidFill>
          <a:ln w="12700">
            <a:solidFill>
              <a:srgbClr val="1A2D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411480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</a:rPr>
              <a:t>3 / 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14400" y="8686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Temperature Sensor: Operating Principle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914400" y="1572768"/>
            <a:ext cx="7315200" cy="0"/>
          </a:xfrm>
          <a:prstGeom prst="line">
            <a:avLst/>
          </a:prstGeom>
          <a:noFill/>
          <a:ln w="12700">
            <a:solidFill>
              <a:srgbClr val="1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8745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19933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Sensing Element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0704" y="2377440"/>
            <a:ext cx="3227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Parasitic bipolar transistor available in CMOS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8745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9744" y="19933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VBE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09744" y="2377440"/>
            <a:ext cx="3227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~−2 mV/°C; useful but process-dependent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32461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33649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ΔVBE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60704" y="3749040"/>
            <a:ext cx="3227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PTAT voltage from 1:p current ratio; process-independent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32461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9744" y="33649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</a:rPr>
              <a:t>Challenge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09744" y="3749040"/>
            <a:ext cx="3227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Small signal ~140 µV/K for p=5 → needs low-offset electronics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4828032"/>
            <a:ext cx="7315200" cy="2194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4846320"/>
            <a:ext cx="7168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Temperature sensing turns BJT physics into a precision digital output.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411480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1A2D47"/>
          </a:solidFill>
          <a:ln w="12700">
            <a:solidFill>
              <a:srgbClr val="1A2D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411480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</a:rPr>
              <a:t>3 / 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14400" y="8686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Temperature Sensor: Circuit Architecture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914400" y="1572768"/>
            <a:ext cx="7315200" cy="0"/>
          </a:xfrm>
          <a:prstGeom prst="line">
            <a:avLst/>
          </a:prstGeom>
          <a:noFill/>
          <a:ln w="12700">
            <a:solidFill>
              <a:srgbClr val="1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8745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19933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Core Idea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0704" y="2377440"/>
            <a:ext cx="3227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Sigma-delta modulator converts ΔVBE and VBE into temperature bitstream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8745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9744" y="19933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No Reference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09744" y="2377440"/>
            <a:ext cx="3227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Temperature is derived without explicit reference voltage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32461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33649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Scale Factor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60704" y="3749040"/>
            <a:ext cx="3227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α = 16 set by sampling capacitor sizing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32461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9744" y="33649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Accuracy Target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09744" y="3749040"/>
            <a:ext cx="3227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±0.1°C from −55°C to 125°C; offset &lt; 2 µV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4828032"/>
            <a:ext cx="7315200" cy="2194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4846320"/>
            <a:ext cx="7168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Architecture removes reference dependence but demands extreme offset control.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411480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1A2D47"/>
          </a:solidFill>
          <a:ln w="12700">
            <a:solidFill>
              <a:srgbClr val="1A2D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411480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</a:rPr>
              <a:t>3 / 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14400" y="8686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Temperature Sensor: Error Correction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914400" y="1572768"/>
            <a:ext cx="7315200" cy="0"/>
          </a:xfrm>
          <a:prstGeom prst="line">
            <a:avLst/>
          </a:prstGeom>
          <a:noFill/>
          <a:ln w="12700">
            <a:solidFill>
              <a:srgbClr val="1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8745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19933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DEM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0704" y="2377440"/>
            <a:ext cx="3227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Accurate 1:5 bias current ratio using rotating current sources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8745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9744" y="19933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CDS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09744" y="2377440"/>
            <a:ext cx="3227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Reduces first integrator offset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32461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33649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Chopping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60704" y="3749040"/>
            <a:ext cx="3227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Chops entire modulator; residual offset &lt; 2 µV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32461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9744" y="33649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Trimming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09744" y="3749040"/>
            <a:ext cx="3227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10-bit current DAC; ~0.01°C resolution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4828032"/>
            <a:ext cx="7315200" cy="2194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4846320"/>
            <a:ext cx="7168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Multiple correction loops synchronize with the main modulator timing.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411480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1A2D47"/>
          </a:solidFill>
          <a:ln w="12700">
            <a:solidFill>
              <a:srgbClr val="1A2D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411480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</a:rPr>
              <a:t>3 / 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14400" y="8686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Temperature Sensor: Results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914400" y="1572768"/>
            <a:ext cx="7315200" cy="0"/>
          </a:xfrm>
          <a:prstGeom prst="line">
            <a:avLst/>
          </a:prstGeom>
          <a:noFill/>
          <a:ln w="12700">
            <a:solidFill>
              <a:srgbClr val="1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8745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19933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Original Design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0704" y="2377440"/>
            <a:ext cx="3227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190 µW and ±0.1°C accuracy across military range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8745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9744" y="19933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Fast Calibration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09744" y="2377440"/>
            <a:ext cx="3227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Voltage calibration in &lt; 1 second vs. minutes with reference sensor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32461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33649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Two-Step ADC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60704" y="3749040"/>
            <a:ext cx="3227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Binary search followed by sigma-delta conversion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32461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9744" y="33649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Newer Design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09744" y="3749040"/>
            <a:ext cx="3227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5 µW (≈40× lower power), ±0.15°C accuracy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4828032"/>
            <a:ext cx="7315200" cy="2194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4846320"/>
            <a:ext cx="7168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Smart architecture trades circuit complexity for calibrated precision at low power.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411480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1A2D47"/>
          </a:solidFill>
          <a:ln w="12700">
            <a:solidFill>
              <a:srgbClr val="1A2D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411480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</a:rPr>
              <a:t>4 / 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14400" y="8686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 Sensor: Operating Principle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914400" y="1572768"/>
            <a:ext cx="7315200" cy="0"/>
          </a:xfrm>
          <a:prstGeom prst="line">
            <a:avLst/>
          </a:prstGeom>
          <a:noFill/>
          <a:ln w="12700">
            <a:solidFill>
              <a:srgbClr val="1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8745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19933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Solid-State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0704" y="2377440"/>
            <a:ext cx="3227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Measures speed + direction with no moving parts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8745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9744" y="19933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Thermal Principle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09744" y="2377440"/>
            <a:ext cx="3227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Wind cools a heated object asymmetrically → δT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32461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33649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Flow Encoding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60704" y="3749040"/>
            <a:ext cx="3227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δT magnitude ∝ √speed; δT direction aligns with flow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32461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9744" y="33649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Packaging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09744" y="3749040"/>
            <a:ext cx="3227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CMOS chip on ceramic disc; housing selects horizontal airflow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4828032"/>
            <a:ext cx="7315200" cy="2194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4846320"/>
            <a:ext cx="7168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Wind is sensed as a controlled thermal imbalance.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411480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1A2D47"/>
          </a:solidFill>
          <a:ln w="12700">
            <a:solidFill>
              <a:srgbClr val="1A2D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411480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</a:rPr>
              <a:t>4 / 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14400" y="8686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 Sensor: Design Approaches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914400" y="1572768"/>
            <a:ext cx="7315200" cy="0"/>
          </a:xfrm>
          <a:prstGeom prst="line">
            <a:avLst/>
          </a:prstGeom>
          <a:noFill/>
          <a:ln w="12700">
            <a:solidFill>
              <a:srgbClr val="1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8745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19933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Direct Measurement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0704" y="2377440"/>
            <a:ext cx="3227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4 heaters + 4 thermopiles measure orthogonal δT; µV signals need precision electronics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8745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9744" y="19933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</a:rPr>
              <a:t>Cost Problem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09744" y="2377440"/>
            <a:ext cx="3227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Manual trimming + wind-tunnel calibration are slow and expensive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32461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33649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Temperature-Balance Mode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60704" y="3749040"/>
            <a:ext cx="3227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Feedback adjusts heater power to cancel flow-induced δT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32461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9744" y="33649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Smart Output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09744" y="3749040"/>
            <a:ext cx="3227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Digitize mW-level heater power instead of µV thermopile signals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4828032"/>
            <a:ext cx="7315200" cy="2194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4846320"/>
            <a:ext cx="7168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Smart mode moves the hard measurement from tiny voltage to controllable power.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411480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1A2D47"/>
          </a:solidFill>
          <a:ln w="12700">
            <a:solidFill>
              <a:srgbClr val="1A2D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411480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</a:rPr>
              <a:t>4 / 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14400" y="8686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 Sensor: Circuit Architecture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914400" y="1572768"/>
            <a:ext cx="7315200" cy="0"/>
          </a:xfrm>
          <a:prstGeom prst="line">
            <a:avLst/>
          </a:prstGeom>
          <a:noFill/>
          <a:ln w="12700">
            <a:solidFill>
              <a:srgbClr val="1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8745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19933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3 Thermal ΣΔ Loops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0704" y="2377440"/>
            <a:ext cx="3227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North–South δT, East–West δT, constant overheat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8745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9744" y="19933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Natural Loop Filter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09744" y="2377440"/>
            <a:ext cx="3227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Sensor thermal capacitance acts as modulator loop filter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32461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33649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Compact Electronics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60704" y="3749040"/>
            <a:ext cx="3227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Only clocked comparator per modulator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32461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9744" y="33649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Microvolt Care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09744" y="3749040"/>
            <a:ext cx="3227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Auto-zeroed comparators handle thermopile signals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4828032"/>
            <a:ext cx="7315200" cy="2194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4846320"/>
            <a:ext cx="7168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The physics of the sensor becomes part of the sigma-delta loop.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411480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1A2D47"/>
          </a:solidFill>
          <a:ln w="12700">
            <a:solidFill>
              <a:srgbClr val="1A2D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411480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</a:rPr>
              <a:t>4 / 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14400" y="8686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 Sensor: Results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914400" y="1572768"/>
            <a:ext cx="7315200" cy="0"/>
          </a:xfrm>
          <a:prstGeom prst="line">
            <a:avLst/>
          </a:prstGeom>
          <a:noFill/>
          <a:ln w="12700">
            <a:solidFill>
              <a:srgbClr val="1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8745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19933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Original Test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0704" y="2377440"/>
            <a:ext cx="3227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1–25 m/s wind tunnel range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8745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9744" y="19933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Accuracy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09744" y="2377440"/>
            <a:ext cx="3227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&lt;4% speed error and &lt;2° direction error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32461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33649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Area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60704" y="3749040"/>
            <a:ext cx="3227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No chip-area increase vs. non-smart version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32461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9744" y="33649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Newer Design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09744" y="3749040"/>
            <a:ext cx="3227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Constant-power mode: 25 mW (≈16× less), same accuracy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4828032"/>
            <a:ext cx="7315200" cy="2194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4846320"/>
            <a:ext cx="7168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Feedback-based smart sensing improves calibration, power, and robustness.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411480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1A2D47"/>
          </a:solidFill>
          <a:ln w="12700">
            <a:solidFill>
              <a:srgbClr val="1A2D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411480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</a:rPr>
              <a:t>5 / 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14400" y="8686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Hall Sensor: Operating Principle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914400" y="1572768"/>
            <a:ext cx="7315200" cy="0"/>
          </a:xfrm>
          <a:prstGeom prst="line">
            <a:avLst/>
          </a:prstGeom>
          <a:noFill/>
          <a:ln w="12700">
            <a:solidFill>
              <a:srgbClr val="1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8745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19933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Hall Effect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0704" y="2377440"/>
            <a:ext cx="3227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Current-carrying plate in magnetic field → transverse voltage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8745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9744" y="19933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</a:rPr>
              <a:t>Tiny Signal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09744" y="2377440"/>
            <a:ext cx="3227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100 V/T sensitivity; Earth field at 1 mA ≈ 5 µV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32461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33649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Offset Problem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60704" y="3749040"/>
            <a:ext cx="3227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Stress, doping, lithography create 5–50 mT offset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32461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9744" y="33649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Compass Impact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09744" y="3749040"/>
            <a:ext cx="3227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Offset drift becomes time-varying angular error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4828032"/>
            <a:ext cx="7315200" cy="2194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4846320"/>
            <a:ext cx="7168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Hall sensing is useful because it is integrated; difficult because signals are tiny.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411480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1A2D47"/>
          </a:solidFill>
          <a:ln w="12700">
            <a:solidFill>
              <a:srgbClr val="1A2D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411480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</a:rPr>
              <a:t>5 / 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14400" y="8686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Hall Sensor: Error Correction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914400" y="1572768"/>
            <a:ext cx="7315200" cy="0"/>
          </a:xfrm>
          <a:prstGeom prst="line">
            <a:avLst/>
          </a:prstGeom>
          <a:noFill/>
          <a:ln w="12700">
            <a:solidFill>
              <a:srgbClr val="1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8745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19933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Spinning Current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0704" y="2377440"/>
            <a:ext cx="3227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Spatially rotate bias current; time-average output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8745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9744" y="19933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Orthogonal Coupling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09744" y="2377440"/>
            <a:ext cx="3227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4 Hall plates reduce offset + drift further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32461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33649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Clean Package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60704" y="3749040"/>
            <a:ext cx="3227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Epoxy package avoids ferromagnetic contamination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32461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9744" y="33649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Nested Chopping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09744" y="3749040"/>
            <a:ext cx="3227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Fast 12.5 kHz + slow ~10 Hz chopping suppress residual offset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4828032"/>
            <a:ext cx="7315200" cy="2194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4846320"/>
            <a:ext cx="7168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Offset cancellation must span device geometry, packaging, and readout electronics.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411480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1A2D47"/>
          </a:solidFill>
          <a:ln w="12700">
            <a:solidFill>
              <a:srgbClr val="1A2D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411480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</a:rPr>
              <a:t>5 / 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14400" y="8686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Hall Sensor: Results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914400" y="1572768"/>
            <a:ext cx="7315200" cy="0"/>
          </a:xfrm>
          <a:prstGeom prst="line">
            <a:avLst/>
          </a:prstGeom>
          <a:noFill/>
          <a:ln w="12700">
            <a:solidFill>
              <a:srgbClr val="1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8745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19933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Offset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0704" y="2377440"/>
            <a:ext cx="3227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4 µT residual offset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8745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9744" y="19933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Temperature Coeff.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09744" y="2377440"/>
            <a:ext cx="3227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8 nT/K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32461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33649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Drift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60704" y="3749040"/>
            <a:ext cx="3227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&lt;0.25 µT after thermal cycling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32461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9744" y="33649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Angular Error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09744" y="3749040"/>
            <a:ext cx="3227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&lt;0.5° — best reported CMOS Hall result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4828032"/>
            <a:ext cx="7315200" cy="2194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4846320"/>
            <a:ext cx="7168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Precision interface + packaging turns µV Hall signals into compass-grade sensing.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411480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1A2D47"/>
          </a:solidFill>
          <a:ln w="12700">
            <a:solidFill>
              <a:srgbClr val="1A2D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411480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</a:rPr>
              <a:t>6 / 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14400" y="8686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914400" y="1572768"/>
            <a:ext cx="7315200" cy="0"/>
          </a:xfrm>
          <a:prstGeom prst="line">
            <a:avLst/>
          </a:prstGeom>
          <a:noFill/>
          <a:ln w="12700">
            <a:solidFill>
              <a:srgbClr val="1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8745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19933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Smart Sensor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0704" y="2377440"/>
            <a:ext cx="3227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Sensor + interface electronics in one package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8745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9744" y="19933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Dynamic Correction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09744" y="2377440"/>
            <a:ext cx="3227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Auto-zeroing, chopping, DEM, sigma-delta are essential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32461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33649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Precision Enables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60704" y="3749040"/>
            <a:ext cx="3227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Previously undetectable physical signals become usable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32461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9744" y="33649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System Design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09744" y="3749040"/>
            <a:ext cx="3227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Optimize sensor, electronics, feedback, calibration, packaging together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4828032"/>
            <a:ext cx="7315200" cy="2194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4846320"/>
            <a:ext cx="7168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Smart sensor design is system optimization, not only sensor selection.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411480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1A2D47"/>
          </a:solidFill>
          <a:ln w="12700">
            <a:solidFill>
              <a:srgbClr val="1A2D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411480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</a:rPr>
              <a:t>6 / 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14400" y="8686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Looking Ahead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914400" y="1572768"/>
            <a:ext cx="7315200" cy="0"/>
          </a:xfrm>
          <a:prstGeom prst="line">
            <a:avLst/>
          </a:prstGeom>
          <a:noFill/>
          <a:ln w="12700">
            <a:solidFill>
              <a:srgbClr val="1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8745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19933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Chapter 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0704" y="2377440"/>
            <a:ext cx="3227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Calibration and self-calibration techniques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8745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9744" y="19933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Chapter 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09744" y="2377440"/>
            <a:ext cx="3227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Precision instrumentation amplifiers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32461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33649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Later Systems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60704" y="3749040"/>
            <a:ext cx="3227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Impedance sensors, gyroscope readout, data processing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32461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1A2D47"/>
          </a:solidFill>
          <a:ln w="12700">
            <a:solidFill>
              <a:srgbClr val="1A3A5C">
                <a:alpha val="8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9744" y="33649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Course Link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09744" y="3749040"/>
            <a:ext cx="3227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Apply smart processing / ML to sensor data in later chapters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4828032"/>
            <a:ext cx="7315200" cy="2194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4846320"/>
            <a:ext cx="7168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Next: calibration and precision readout techniques in more depth.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Phenikaa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— Smart Sensor Design</dc:title>
  <dc:subject>Chapter 1 — Smart Sensor Design</dc:subject>
  <dc:creator>Smart Sensor Systems</dc:creator>
  <cp:lastModifiedBy>Smart Sensor Systems</cp:lastModifiedBy>
  <cp:revision>1</cp:revision>
  <dcterms:created xsi:type="dcterms:W3CDTF">2026-05-08T10:19:50Z</dcterms:created>
  <dcterms:modified xsi:type="dcterms:W3CDTF">2026-05-08T10:19:50Z</dcterms:modified>
</cp:coreProperties>
</file>