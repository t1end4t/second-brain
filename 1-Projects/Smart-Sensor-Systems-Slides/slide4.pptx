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B91999-8009-411A-870A-1F02EF241C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56D975-4589-46D8-8CD5-67CC151D77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1"/>
          <p:cNvSpPr/>
          <p:nvPr/>
        </p:nvSpPr>
        <p:spPr>
          <a:xfrm>
            <a:off x="1097280" y="548640"/>
            <a:ext cx="1645560" cy="36540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2"/>
          <p:cNvSpPr/>
          <p:nvPr/>
        </p:nvSpPr>
        <p:spPr>
          <a:xfrm>
            <a:off x="1097280" y="5486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3 / 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/>
          <p:cNvSpPr/>
          <p:nvPr/>
        </p:nvSpPr>
        <p:spPr>
          <a:xfrm>
            <a:off x="1097280" y="1097280"/>
            <a:ext cx="6949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Silicon Transduction Mechanisms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1097280" y="2008800"/>
            <a:ext cx="6949440" cy="360"/>
          </a:xfrm>
          <a:prstGeom prst="line">
            <a:avLst/>
          </a:prstGeom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" name="Table 0"/>
          <p:cNvGraphicFramePr/>
          <p:nvPr/>
        </p:nvGraphicFramePr>
        <p:xfrm>
          <a:off x="1097280" y="2103120"/>
          <a:ext cx="6949080" cy="200124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3657600"/>
              </a:tblGrid>
              <a:tr h="320040"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MEASURAND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EFFECT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SILICON SENSING PRINCIPLE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</a:tr>
              <a:tr h="365760"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Magnetic field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Hall effect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Transverse voltage in current-carrying plate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</a:tr>
              <a:tr h="365760"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Temperature diff.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Seebeck effect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Thermopile: series-connected junctions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</a:tr>
              <a:tr h="365760"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Mechanical strain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Piezoresistive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Resistance change under stress (doping-dependent)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</a:tr>
              <a:tr h="365760"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Light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Photoelectric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 lIns="75960" rIns="75960" tIns="75960" bIns="759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Photodiode / phototransistor array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>
                    <a:lnL w="6480">
                      <a:solidFill>
                        <a:srgbClr val="1a3a5c"/>
                      </a:solidFill>
                      <a:prstDash val="solid"/>
                    </a:lnL>
                    <a:lnR w="6480">
                      <a:solidFill>
                        <a:srgbClr val="1a3a5c"/>
                      </a:solidFill>
                      <a:prstDash val="solid"/>
                    </a:lnR>
                    <a:lnT w="6480">
                      <a:solidFill>
                        <a:srgbClr val="1a3a5c"/>
                      </a:solidFill>
                      <a:prstDash val="solid"/>
                    </a:lnT>
                    <a:lnB w="6480">
                      <a:solidFill>
                        <a:srgbClr val="1a3a5c"/>
                      </a:solidFill>
                      <a:prstDash val="solid"/>
                    </a:lnB>
                    <a:solidFill>
                      <a:srgbClr val="1a2d47"/>
                    </a:solidFill>
                  </a:tcPr>
                </a:tc>
              </a:tr>
            </a:tbl>
          </a:graphicData>
        </a:graphic>
      </p:graphicFrame>
      <p:sp>
        <p:nvSpPr>
          <p:cNvPr id="12" name="Shape 5"/>
          <p:cNvSpPr/>
          <p:nvPr/>
        </p:nvSpPr>
        <p:spPr>
          <a:xfrm>
            <a:off x="1097280" y="4297680"/>
            <a:ext cx="6949080" cy="54828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234440" y="434340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Indirect Sensing — measuring what silicon can't sense directly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234440" y="4617720"/>
            <a:ext cx="667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Humidity → polymer dielectric  |  Gas → metal oxide resistance  |  Force → membrane deflection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2026-05-08T09:47:06Z</dcterms:created>
  <dc:creator>Smart Sensor Systems</dc:creator>
  <dc:description/>
  <dc:language>en-US</dc:language>
  <cp:lastModifiedBy/>
  <dcterms:modified xsi:type="dcterms:W3CDTF">2026-05-08T17:16:11Z</dcterms:modified>
  <cp:revision>2</cp:revision>
  <dc:subject>PptxGenJS Presentation</dc:subject>
  <dc:title>Chapter 1 — Smart Sensor Design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